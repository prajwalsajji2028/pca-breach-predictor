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22D3EE">
              <a:alpha val="12000"/>
            </a:srgbClr>
          </a:solidFill>
          <a:ln w="12700">
            <a:solidFill>
              <a:srgbClr val="22D3EE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3474720"/>
            <a:ext cx="2560320" cy="2560320"/>
          </a:xfrm>
          <a:prstGeom prst="ellipse">
            <a:avLst/>
          </a:prstGeom>
          <a:solidFill>
            <a:srgbClr val="818CF8">
              <a:alpha val="15000"/>
            </a:srgbClr>
          </a:solidFill>
          <a:ln w="12700">
            <a:solidFill>
              <a:srgbClr val="818CF8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0584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spc="5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ECONOMETRICS-II  ·  TERM PAPER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7132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Regulatory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Breach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292608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RBI's Prompt Corrective Action Framework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0080" y="3401568"/>
            <a:ext cx="1645920" cy="2743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56616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Panel Probit Analysis  ·  Indian Scheduled Commercial Banks  ·  FY2008–FY2024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4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8046720" cy="18288"/>
          </a:xfrm>
          <a:prstGeom prst="rect">
            <a:avLst/>
          </a:prstGeom>
          <a:solidFill>
            <a:srgbClr val="1E2A3B"/>
          </a:solidFill>
          <a:ln w="12700">
            <a:solidFill>
              <a:srgbClr val="1E2A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44752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2014–2022, 12 Indian Scheduled Commercial Banks were placed under RBI's Prompt Corrective Action (PCA) — a supervisory intervention triggered when banks breach capital, asset quality, or profitability thresholds.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359152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research relies on OLS, GMM, and linear regression — none treat PCA entry as a binary event. This paper fills that gap.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246120"/>
            <a:ext cx="2377440" cy="1097280"/>
          </a:xfrm>
          <a:prstGeom prst="rect">
            <a:avLst/>
          </a:prstGeom>
          <a:solidFill>
            <a:srgbClr val="111827"/>
          </a:solidFill>
          <a:ln w="6350">
            <a:solidFill>
              <a:srgbClr val="1E2D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3246120"/>
            <a:ext cx="45720" cy="109728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3319272"/>
            <a:ext cx="21579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658368" y="3886200"/>
            <a:ext cx="21579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 placed under PCA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83280" y="3246120"/>
            <a:ext cx="2377440" cy="1097280"/>
          </a:xfrm>
          <a:prstGeom prst="rect">
            <a:avLst/>
          </a:prstGeom>
          <a:solidFill>
            <a:srgbClr val="111827"/>
          </a:solidFill>
          <a:ln w="6350">
            <a:solidFill>
              <a:srgbClr val="1E2D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83280" y="3246120"/>
            <a:ext cx="45720" cy="109728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93008" y="3319272"/>
            <a:ext cx="21579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3.7%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3493008" y="3886200"/>
            <a:ext cx="21579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rate in panel data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17920" y="3246120"/>
            <a:ext cx="2377440" cy="1097280"/>
          </a:xfrm>
          <a:prstGeom prst="rect">
            <a:avLst/>
          </a:prstGeom>
          <a:solidFill>
            <a:srgbClr val="111827"/>
          </a:solidFill>
          <a:ln w="6350">
            <a:solidFill>
              <a:srgbClr val="1E2D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0" y="3246120"/>
            <a:ext cx="45720" cy="109728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27648" y="3319272"/>
            <a:ext cx="21579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yrs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6327648" y="3886200"/>
            <a:ext cx="21579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period FY2008–2024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4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OBJECTIVES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Paper Does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8046720" cy="18288"/>
          </a:xfrm>
          <a:prstGeom prst="rect">
            <a:avLst/>
          </a:prstGeom>
          <a:solidFill>
            <a:srgbClr val="1E2A3B"/>
          </a:solidFill>
          <a:ln w="12700">
            <a:solidFill>
              <a:srgbClr val="1E2A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63040"/>
            <a:ext cx="3931920" cy="1005840"/>
          </a:xfrm>
          <a:prstGeom prst="rect">
            <a:avLst/>
          </a:prstGeom>
          <a:solidFill>
            <a:srgbClr val="111827"/>
          </a:solidFill>
          <a:ln w="6350">
            <a:solidFill>
              <a:srgbClr val="1E2D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463040"/>
            <a:ext cx="45720" cy="10058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5544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85800" y="17373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Probit Framework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202996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Treats PCA breach as a binary outcome — a proper early-warning model.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892040" y="1463040"/>
            <a:ext cx="3931920" cy="1005840"/>
          </a:xfrm>
          <a:prstGeom prst="rect">
            <a:avLst/>
          </a:prstGeom>
          <a:solidFill>
            <a:srgbClr val="111827"/>
          </a:solidFill>
          <a:ln w="6350">
            <a:solidFill>
              <a:srgbClr val="1E2D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92040" y="1463040"/>
            <a:ext cx="45720" cy="100584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0" y="15544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29200" y="17373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Robust Predictors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0" y="202996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capital, asset quality, ownership, policy, macro, and credit variables.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48640" y="2697480"/>
            <a:ext cx="3931920" cy="1005840"/>
          </a:xfrm>
          <a:prstGeom prst="rect">
            <a:avLst/>
          </a:prstGeom>
          <a:solidFill>
            <a:srgbClr val="111827"/>
          </a:solidFill>
          <a:ln w="6350">
            <a:solidFill>
              <a:srgbClr val="1E2D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2697480"/>
            <a:ext cx="45720" cy="10058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27889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85800" y="29718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Marginal Effects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5800" y="326440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Translates probit coefficients into actionable probability changes.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892040" y="2697480"/>
            <a:ext cx="3931920" cy="1005840"/>
          </a:xfrm>
          <a:prstGeom prst="rect">
            <a:avLst/>
          </a:prstGeom>
          <a:solidFill>
            <a:srgbClr val="111827"/>
          </a:solidFill>
          <a:ln w="6350">
            <a:solidFill>
              <a:srgbClr val="1E2D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92040" y="2697480"/>
            <a:ext cx="45720" cy="100584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0" y="27889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029200" y="29718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Separation Testing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0" y="326440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Formally addresses rare-event and complete separation issues.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606040" y="4553712"/>
            <a:ext cx="3931920" cy="438912"/>
          </a:xfrm>
          <a:prstGeom prst="rect">
            <a:avLst/>
          </a:prstGeom>
          <a:solidFill>
            <a:srgbClr val="111827"/>
          </a:solidFill>
          <a:ln w="6350">
            <a:solidFill>
              <a:srgbClr val="1E2D3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606040" y="4553712"/>
            <a:ext cx="45720" cy="43891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15768" y="459028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</a:t>
            </a:r>
            <a:pPr indent="0" marL="0">
              <a:buNone/>
            </a:pPr>
            <a:r>
              <a:rPr lang="en-US" sz="10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Cross-Specification Stability —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model variants confirm result robustness.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4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BACKGROUND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RBI's PCA Framework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8046720" cy="18288"/>
          </a:xfrm>
          <a:prstGeom prst="rect">
            <a:avLst/>
          </a:prstGeom>
          <a:solidFill>
            <a:srgbClr val="1E2A3B"/>
          </a:solidFill>
          <a:ln w="12700">
            <a:solidFill>
              <a:srgbClr val="1E2A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44752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Introduced in 2002, the Prompt Corrective Action framework is RBI's structured early intervention tool — modelled on the US FDIC's SEIR system.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121408"/>
            <a:ext cx="8046720" cy="749808"/>
          </a:xfrm>
          <a:prstGeom prst="rect">
            <a:avLst/>
          </a:prstGeom>
          <a:solidFill>
            <a:srgbClr val="111827"/>
          </a:solidFill>
          <a:ln w="6350">
            <a:solidFill>
              <a:srgbClr val="1E2D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121408"/>
            <a:ext cx="45720" cy="74980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21284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Adequacy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49808" y="2505456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CRAR &amp; CET1 vs Basel III thresholds (10.875%)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2990088"/>
            <a:ext cx="8046720" cy="749808"/>
          </a:xfrm>
          <a:prstGeom prst="rect">
            <a:avLst/>
          </a:prstGeom>
          <a:solidFill>
            <a:srgbClr val="111827"/>
          </a:solidFill>
          <a:ln w="6350">
            <a:solidFill>
              <a:srgbClr val="1E2D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990088"/>
            <a:ext cx="45720" cy="749808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308152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Quality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49808" y="3374136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NPA ratio thresholds triggering escalating restrictions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858768"/>
            <a:ext cx="8046720" cy="749808"/>
          </a:xfrm>
          <a:prstGeom prst="rect">
            <a:avLst/>
          </a:prstGeom>
          <a:solidFill>
            <a:srgbClr val="111827"/>
          </a:solidFill>
          <a:ln w="6350">
            <a:solidFill>
              <a:srgbClr val="1E2D3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3858768"/>
            <a:ext cx="45720" cy="74980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395020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Profitability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49808" y="4242816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on Assets (ROA) used to assess earnings pressure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48640" y="473659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12 PCA placements occurred between 2014–2022, clustered in two waves: FY2015 and FY2017–FY2019.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4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VARIABLES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8046720" cy="18288"/>
          </a:xfrm>
          <a:prstGeom prst="rect">
            <a:avLst/>
          </a:prstGeom>
          <a:solidFill>
            <a:srgbClr val="1E2A3B"/>
          </a:solidFill>
          <a:ln w="12700">
            <a:solidFill>
              <a:srgbClr val="1E2A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44752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755648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 Indian Scheduled Commercial Banks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Unbalanced panel, FY2008–FY2024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from RBI public repositories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48640" y="269748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Dependent Variable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3008376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PCA_BREACH = 1 if bank was under PCA at end of FY, 0 otherwise.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breach events across 1,080 observations.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029200" y="1444752"/>
            <a:ext cx="3749040" cy="777240"/>
          </a:xfrm>
          <a:prstGeom prst="rect">
            <a:avLst/>
          </a:prstGeom>
          <a:solidFill>
            <a:srgbClr val="111827"/>
          </a:solidFill>
          <a:ln w="6350">
            <a:solidFill>
              <a:srgbClr val="1E2D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0" y="1444752"/>
            <a:ext cx="45720" cy="7772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93792" y="1536192"/>
            <a:ext cx="3383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Bank-Specific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193792" y="1810512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CRAR, GNPA ratio, ROA, Cost-Income ratio, Log(Assets), Credit Growth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029200" y="2331720"/>
            <a:ext cx="3749040" cy="777240"/>
          </a:xfrm>
          <a:prstGeom prst="rect">
            <a:avLst/>
          </a:prstGeom>
          <a:solidFill>
            <a:srgbClr val="111827"/>
          </a:solidFill>
          <a:ln w="6350">
            <a:solidFill>
              <a:srgbClr val="1E2D3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0" y="2331720"/>
            <a:ext cx="45720" cy="7772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93792" y="2423160"/>
            <a:ext cx="3383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Dummies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193792" y="269748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IBC (FY2017), PCA Revision (FY2018), COVID Forbearance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029200" y="3218688"/>
            <a:ext cx="3749040" cy="777240"/>
          </a:xfrm>
          <a:prstGeom prst="rect">
            <a:avLst/>
          </a:prstGeom>
          <a:solidFill>
            <a:srgbClr val="111827"/>
          </a:solidFill>
          <a:ln w="6350">
            <a:solidFill>
              <a:srgbClr val="1E2D3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0" y="3218688"/>
            <a:ext cx="45720" cy="77724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93792" y="3310128"/>
            <a:ext cx="3383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Controls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193792" y="358444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 growth, CPI inflation, M3 money supply growth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029200" y="4105656"/>
            <a:ext cx="3749040" cy="777240"/>
          </a:xfrm>
          <a:prstGeom prst="rect">
            <a:avLst/>
          </a:prstGeom>
          <a:solidFill>
            <a:srgbClr val="111827"/>
          </a:solidFill>
          <a:ln w="6350">
            <a:solidFill>
              <a:srgbClr val="1E2D3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0" y="4105656"/>
            <a:ext cx="45720" cy="77724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93792" y="4197096"/>
            <a:ext cx="3383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193792" y="4471416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PSB dummy — public vs private/foreign sector banks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4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Probit Model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8046720" cy="18288"/>
          </a:xfrm>
          <a:prstGeom prst="rect">
            <a:avLst/>
          </a:prstGeom>
          <a:solidFill>
            <a:srgbClr val="1E2A3B"/>
          </a:solidFill>
          <a:ln w="12700">
            <a:solidFill>
              <a:srgbClr val="1E2A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44752"/>
            <a:ext cx="8046720" cy="777240"/>
          </a:xfrm>
          <a:prstGeom prst="rect">
            <a:avLst/>
          </a:prstGeom>
          <a:solidFill>
            <a:srgbClr val="111827"/>
          </a:solidFill>
          <a:ln w="6350">
            <a:solidFill>
              <a:srgbClr val="1E2D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444752"/>
            <a:ext cx="45720" cy="7772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536192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P(PCA_BREACHᵢₜ = 1) = Φ(α + β·Xᵢₜ₋₁ + γ·Mₜ + δ·Dₜ + εᵢₜ)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2487168"/>
            <a:ext cx="164592" cy="16459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395728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Lagged Predictors  —  All bank-specific variables lagged one year to address endogeneity.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990088"/>
            <a:ext cx="164592" cy="16459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898648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Huber-White SEs  —  Sandwich standard errors correct for heteroskedasticity &amp; within-cluster correlation.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493008"/>
            <a:ext cx="164592" cy="16459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401568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 Event Handling  —  Event rate = 3.7%. Complete separation explicitly tested across all 12 predictors.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995928"/>
            <a:ext cx="164592" cy="16459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904488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Marginal Effects  —  AMEs convert latent index coefficients into interpretable probability changes.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498848"/>
            <a:ext cx="164592" cy="16459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407408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Specifications  —  Pooled probit (M1–M3), PSB-only subsample (M4), Tier 1 CRAR variant (M5).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4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 RESULTS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Significant Predictors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8046720" cy="18288"/>
          </a:xfrm>
          <a:prstGeom prst="rect">
            <a:avLst/>
          </a:prstGeom>
          <a:solidFill>
            <a:srgbClr val="1E2A3B"/>
          </a:solidFill>
          <a:ln w="12700">
            <a:solidFill>
              <a:srgbClr val="1E2A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63040"/>
            <a:ext cx="3931920" cy="1024128"/>
          </a:xfrm>
          <a:prstGeom prst="rect">
            <a:avLst/>
          </a:prstGeom>
          <a:solidFill>
            <a:srgbClr val="111827"/>
          </a:solidFill>
          <a:ln w="6350">
            <a:solidFill>
              <a:srgbClr val="1E2D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463040"/>
            <a:ext cx="45720" cy="102412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55448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CRAR (lagged)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2880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−0.317***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215798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capital → higher breach risk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892040" y="1463040"/>
            <a:ext cx="3931920" cy="1024128"/>
          </a:xfrm>
          <a:prstGeom prst="rect">
            <a:avLst/>
          </a:prstGeom>
          <a:solidFill>
            <a:srgbClr val="111827"/>
          </a:solidFill>
          <a:ln w="6350">
            <a:solidFill>
              <a:srgbClr val="1E2D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92040" y="1463040"/>
            <a:ext cx="45720" cy="1024128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0" y="155448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GNPA Ratio (lagged)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029200" y="182880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+0.125***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029200" y="215798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bad loans → higher breach risk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48640" y="2633472"/>
            <a:ext cx="3931920" cy="1024128"/>
          </a:xfrm>
          <a:prstGeom prst="rect">
            <a:avLst/>
          </a:prstGeom>
          <a:solidFill>
            <a:srgbClr val="111827"/>
          </a:solidFill>
          <a:ln w="6350">
            <a:solidFill>
              <a:srgbClr val="1E2D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2633472"/>
            <a:ext cx="45720" cy="1024128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272491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PSB Dummy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85800" y="299923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+1.615**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85800" y="332841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40 PCA events were public sector banks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892040" y="2633472"/>
            <a:ext cx="3931920" cy="1024128"/>
          </a:xfrm>
          <a:prstGeom prst="rect">
            <a:avLst/>
          </a:prstGeom>
          <a:solidFill>
            <a:srgbClr val="111827"/>
          </a:solidFill>
          <a:ln w="6350">
            <a:solidFill>
              <a:srgbClr val="1E2D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92040" y="2633472"/>
            <a:ext cx="45720" cy="102412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0" y="272491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Revision 2017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029200" y="299923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+1.193**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029200" y="332841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Revised rules exposed more violations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48640" y="3803904"/>
            <a:ext cx="3931920" cy="1024128"/>
          </a:xfrm>
          <a:prstGeom prst="rect">
            <a:avLst/>
          </a:prstGeom>
          <a:solidFill>
            <a:srgbClr val="111827"/>
          </a:solidFill>
          <a:ln w="6350">
            <a:solidFill>
              <a:srgbClr val="1E2D3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3803904"/>
            <a:ext cx="45720" cy="102412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" y="389534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Growth (lagged)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85800" y="4169664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+0.018**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85800" y="449884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Post-boom credit surge precedes stress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892040" y="3803904"/>
            <a:ext cx="3931920" cy="1024128"/>
          </a:xfrm>
          <a:prstGeom prst="rect">
            <a:avLst/>
          </a:prstGeom>
          <a:solidFill>
            <a:srgbClr val="111827"/>
          </a:solidFill>
          <a:ln w="6350">
            <a:solidFill>
              <a:srgbClr val="1E2D3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92040" y="3803904"/>
            <a:ext cx="45720" cy="102412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0" y="389534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 Growth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029200" y="4169664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+0.092**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5029200" y="449884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placements clustered post-credit boom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4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MARGINAL EFFECTS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Impact of Each Predictor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8046720" cy="18288"/>
          </a:xfrm>
          <a:prstGeom prst="rect">
            <a:avLst/>
          </a:prstGeom>
          <a:solidFill>
            <a:srgbClr val="1E2A3B"/>
          </a:solidFill>
          <a:ln w="12700">
            <a:solidFill>
              <a:srgbClr val="1E2A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630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 pp change in each predictor changes PCA breach probability by: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PSB Dummy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063240" y="1993392"/>
            <a:ext cx="3898232" cy="201168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52912" y="1920240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+4.17 pp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2414016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Revision 2017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063240" y="2487168"/>
            <a:ext cx="3551722" cy="20116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06402" y="2414016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+3.82 pp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2907792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GNPA Ratio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063240" y="2980944"/>
            <a:ext cx="952901" cy="201168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07581" y="2907792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+1.04 pp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3401568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CRAR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063240" y="3474720"/>
            <a:ext cx="779646" cy="20116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34326" y="3401568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−0.82 pp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" y="3895344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Growth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063240" y="3968496"/>
            <a:ext cx="129941" cy="20116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84621" y="3895344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+0.14 pp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4389120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 Growth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063240" y="4462272"/>
            <a:ext cx="56308" cy="20116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10988" y="4389120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+0.06 pp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8640" y="475488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PSB ownership and the 2017 regulatory revision dominate the probability landscape.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4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8046720" cy="18288"/>
          </a:xfrm>
          <a:prstGeom prst="rect">
            <a:avLst/>
          </a:prstGeom>
          <a:solidFill>
            <a:srgbClr val="1E2A3B"/>
          </a:solidFill>
          <a:ln w="12700">
            <a:solidFill>
              <a:srgbClr val="1E2A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81328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 Base Pooled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669280" y="1572768"/>
            <a:ext cx="2377440" cy="182880"/>
          </a:xfrm>
          <a:prstGeom prst="rect">
            <a:avLst/>
          </a:prstGeom>
          <a:solidFill>
            <a:srgbClr val="1E2A3B"/>
          </a:solidFill>
          <a:ln w="12700">
            <a:solidFill>
              <a:srgbClr val="1E2A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0" y="1572768"/>
            <a:ext cx="1153058" cy="18288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38160" y="1481328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0.9897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2121408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  Repo Rate Added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69280" y="2212848"/>
            <a:ext cx="2377440" cy="182880"/>
          </a:xfrm>
          <a:prstGeom prst="rect">
            <a:avLst/>
          </a:prstGeom>
          <a:solidFill>
            <a:srgbClr val="1E2A3B"/>
          </a:solidFill>
          <a:ln w="12700">
            <a:solidFill>
              <a:srgbClr val="1E2A3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69280" y="2212848"/>
            <a:ext cx="1164946" cy="18288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38160" y="2121408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0.9898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2761488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  Macro-Only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69280" y="2852928"/>
            <a:ext cx="2377440" cy="182880"/>
          </a:xfrm>
          <a:prstGeom prst="rect">
            <a:avLst/>
          </a:prstGeom>
          <a:solidFill>
            <a:srgbClr val="1E2A3B"/>
          </a:solidFill>
          <a:ln w="12700">
            <a:solidFill>
              <a:srgbClr val="1E2A3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69280" y="2852928"/>
            <a:ext cx="903427" cy="18288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38160" y="2761488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0.9876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48640" y="3401568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  PSB Subsample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669280" y="3493008"/>
            <a:ext cx="2377440" cy="182880"/>
          </a:xfrm>
          <a:prstGeom prst="rect">
            <a:avLst/>
          </a:prstGeom>
          <a:solidFill>
            <a:srgbClr val="1E2A3B"/>
          </a:solidFill>
          <a:ln w="12700">
            <a:solidFill>
              <a:srgbClr val="1E2A3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669280" y="3493008"/>
            <a:ext cx="1081735" cy="18288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8160" y="3401568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0.9891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48640" y="4041648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  Tier 1 CRAR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669280" y="4133088"/>
            <a:ext cx="2377440" cy="182880"/>
          </a:xfrm>
          <a:prstGeom prst="rect">
            <a:avLst/>
          </a:prstGeom>
          <a:solidFill>
            <a:srgbClr val="1E2A3B"/>
          </a:solidFill>
          <a:ln w="12700">
            <a:solidFill>
              <a:srgbClr val="1E2A3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669280" y="4133088"/>
            <a:ext cx="1117397" cy="18288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38160" y="4041648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0.9894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4800600"/>
            <a:ext cx="8046720" cy="27432"/>
          </a:xfrm>
          <a:prstGeom prst="rect">
            <a:avLst/>
          </a:prstGeom>
          <a:solidFill>
            <a:srgbClr val="1E2A3B"/>
          </a:solidFill>
          <a:ln w="12700">
            <a:solidFill>
              <a:srgbClr val="1E2A3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4864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range across all specifications: 0.9876–0.9898  ·  McFadden R² = 0.70 (base)  ·  Six predictors remain significant in ≥ 3 of 5 models.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4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Results Tell Us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8046720" cy="18288"/>
          </a:xfrm>
          <a:prstGeom prst="rect">
            <a:avLst/>
          </a:prstGeom>
          <a:solidFill>
            <a:srgbClr val="1E2A3B"/>
          </a:solidFill>
          <a:ln w="12700">
            <a:solidFill>
              <a:srgbClr val="1E2A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63040"/>
            <a:ext cx="8046720" cy="786384"/>
          </a:xfrm>
          <a:prstGeom prst="rect">
            <a:avLst/>
          </a:prstGeom>
          <a:solidFill>
            <a:srgbClr val="111827"/>
          </a:solidFill>
          <a:ln w="6350">
            <a:solidFill>
              <a:srgbClr val="1E2D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463040"/>
            <a:ext cx="45720" cy="78638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554480"/>
            <a:ext cx="75895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is the binding constraint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856232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CRAR effect doubles in the PSB-only subsample, confirming capital adequacy is even more critical for public sector banks.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2359152"/>
            <a:ext cx="8046720" cy="786384"/>
          </a:xfrm>
          <a:prstGeom prst="rect">
            <a:avLst/>
          </a:prstGeom>
          <a:solidFill>
            <a:srgbClr val="111827"/>
          </a:solidFill>
          <a:ln w="6350">
            <a:solidFill>
              <a:srgbClr val="1E2D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359152"/>
            <a:ext cx="45720" cy="786384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450592"/>
            <a:ext cx="75895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GNPA is the most consistent predictor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2752344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 at *** level across all specifications — reflects how bad loans reliably precede regulatory action.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3255264"/>
            <a:ext cx="8046720" cy="786384"/>
          </a:xfrm>
          <a:prstGeom prst="rect">
            <a:avLst/>
          </a:prstGeom>
          <a:solidFill>
            <a:srgbClr val="111827"/>
          </a:solidFill>
          <a:ln w="6350">
            <a:solidFill>
              <a:srgbClr val="1E2D3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255264"/>
            <a:ext cx="45720" cy="786384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346704"/>
            <a:ext cx="75895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PSB ownership is structural, not cyclical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" y="3648456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40 PCA events were public sector banks. Directed credit mandates and capital infusion dependence create persistent vulnerability.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4151376"/>
            <a:ext cx="8046720" cy="786384"/>
          </a:xfrm>
          <a:prstGeom prst="rect">
            <a:avLst/>
          </a:prstGeom>
          <a:solidFill>
            <a:srgbClr val="111827"/>
          </a:solidFill>
          <a:ln w="6350">
            <a:solidFill>
              <a:srgbClr val="1E2D3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4151376"/>
            <a:ext cx="45720" cy="786384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4242816"/>
            <a:ext cx="75895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2017 revision was discovery, not deterrence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520" y="4544568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positive coefficient on PCA Revision 2017 suggests the stricter rules surfaced existing problems rather than preventing new ones.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4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Caveats &amp; Future Work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8046720" cy="18288"/>
          </a:xfrm>
          <a:prstGeom prst="rect">
            <a:avLst/>
          </a:prstGeom>
          <a:solidFill>
            <a:srgbClr val="1E2A3B"/>
          </a:solidFill>
          <a:ln w="12700">
            <a:solidFill>
              <a:srgbClr val="1E2A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91056"/>
            <a:ext cx="54864" cy="54864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81328"/>
            <a:ext cx="7863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NPA ratio — the formal PCA trigger — is unavailable as standalone RBI data. GNPA is used as a proxy, introducing measurement error.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249424"/>
            <a:ext cx="8046720" cy="9144"/>
          </a:xfrm>
          <a:prstGeom prst="rect">
            <a:avLst/>
          </a:prstGeom>
          <a:solidFill>
            <a:srgbClr val="1E2A3B"/>
          </a:solidFill>
          <a:ln w="12700">
            <a:solidFill>
              <a:srgbClr val="1E2A3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441448"/>
            <a:ext cx="54864" cy="54864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2331720"/>
            <a:ext cx="7863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Pooled probit does not account for unobserved bank-level heterogeneity. A random effects panel probit is specified but not fully estimated.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099816"/>
            <a:ext cx="8046720" cy="9144"/>
          </a:xfrm>
          <a:prstGeom prst="rect">
            <a:avLst/>
          </a:prstGeom>
          <a:solidFill>
            <a:srgbClr val="1E2A3B"/>
          </a:solidFill>
          <a:ln w="12700">
            <a:solidFill>
              <a:srgbClr val="1E2A3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3291840"/>
            <a:ext cx="54864" cy="54864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3182112"/>
            <a:ext cx="7863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COVID-19 forbearance (FY2020–FY2022) suppressed NPA recognition, potentially understating asset quality deterioration in this period.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950208"/>
            <a:ext cx="8046720" cy="9144"/>
          </a:xfrm>
          <a:prstGeom prst="rect">
            <a:avLst/>
          </a:prstGeom>
          <a:solidFill>
            <a:srgbClr val="1E2A3B"/>
          </a:solidFill>
          <a:ln w="12700">
            <a:solidFill>
              <a:srgbClr val="1E2A3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4142232"/>
            <a:ext cx="54864" cy="54864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4032504"/>
            <a:ext cx="7863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high in-sample AUC (0.9897) raises out-of-sample concerns. An explicit holdout test on FY2023–2024 is a priority for future work.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822960"/>
            <a:ext cx="3657600" cy="3657600"/>
          </a:xfrm>
          <a:prstGeom prst="ellipse">
            <a:avLst/>
          </a:prstGeom>
          <a:solidFill>
            <a:srgbClr val="22D3EE">
              <a:alpha val="10000"/>
            </a:srgbClr>
          </a:solidFill>
          <a:ln w="12700">
            <a:solidFill>
              <a:srgbClr val="22D3EE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3200400"/>
            <a:ext cx="2926080" cy="2926080"/>
          </a:xfrm>
          <a:prstGeom prst="ellipse">
            <a:avLst/>
          </a:prstGeom>
          <a:solidFill>
            <a:srgbClr val="818CF8">
              <a:alpha val="12000"/>
            </a:srgbClr>
          </a:solidFill>
          <a:ln w="12700">
            <a:solidFill>
              <a:srgbClr val="818CF8">
                <a:alpha val="1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8404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4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298448"/>
            <a:ext cx="8046720" cy="18288"/>
          </a:xfrm>
          <a:prstGeom prst="rect">
            <a:avLst/>
          </a:prstGeom>
          <a:solidFill>
            <a:srgbClr val="1E2A3B"/>
          </a:solidFill>
          <a:ln w="12700">
            <a:solidFill>
              <a:srgbClr val="1E2A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48132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1481328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0.9897  </a:t>
            </a:r>
            <a:pPr indent="0" marL="0">
              <a:buNone/>
            </a:pPr>
            <a:r>
              <a:rPr lang="en-US" sz="12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Near-perfect predictive accuracy, stable across all five specifications.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865376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228600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22860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Robust Signals  </a:t>
            </a:r>
            <a:pPr indent="0" marL="0">
              <a:buNone/>
            </a:pPr>
            <a:r>
              <a:rPr lang="en-US" sz="12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CRAR, GNPA ratio, and PSB ownership are universally significant predictors.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267004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3090672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68680" y="3090672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Thresholds  </a:t>
            </a:r>
            <a:pPr indent="0" marL="0">
              <a:buNone/>
            </a:pPr>
            <a:r>
              <a:rPr lang="en-US" sz="12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−0.82 pp per 1 pp CRAR drop; +4.17 pp for PSB ownership — directly usable by supervisors.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34747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389534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68680" y="3895344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Insight  </a:t>
            </a:r>
            <a:pPr indent="0" marL="0">
              <a:buNone/>
            </a:pPr>
            <a:r>
              <a:rPr lang="en-US" sz="12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2017 PCA revision and credit booms both elevate breach probability.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427939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473659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directions: Random effects probit · Ordered probit for severity grading · Interaction terms · Out-of-sample validation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Predicting RBI PCA Threshold Breach</dc:title>
  <dc:subject>PptxGenJS Presentation</dc:subject>
  <dc:creator>PptxGenJS</dc:creator>
  <cp:lastModifiedBy>PptxGenJS</cp:lastModifiedBy>
  <cp:revision>1</cp:revision>
  <dcterms:created xsi:type="dcterms:W3CDTF">2026-04-12T16:02:18Z</dcterms:created>
  <dcterms:modified xsi:type="dcterms:W3CDTF">2026-04-12T16:02:18Z</dcterms:modified>
</cp:coreProperties>
</file>